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5"/>
    <p:sldId id="260" r:id="rId6"/>
    <p:sldId id="261" r:id="rId7"/>
    <p:sldId id="263" r:id="rId9"/>
    <p:sldId id="262" r:id="rId8"/>
    <p:sldId id="258" r:id="rId4"/>
    <p:sldId id="264" r:id="rId1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slide" Target="slides/slide2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-gradient-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rand-r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580" y="0"/>
            <a:ext cx="4100157" cy="6858000"/>
          </a:xfrm>
          <a:prstGeom prst="rect">
            <a:avLst/>
          </a:prstGeom>
        </p:spPr>
      </p:pic>
      <p:pic>
        <p:nvPicPr>
          <p:cNvPr id="4" name="Picture 3" descr="microsoft-365-copilo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"/>
            <a:ext cx="2145687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7315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Build an AI App with Azure SQL Hyperscale, Fabric &amp; Foundry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77639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91F2C"/>
                </a:solidFill>
                <a:latin typeface="Segoe UI"/>
                <a:cs typeface="Segoe UI"/>
              </a:rPr>
              <a:t>LAB513 · Retrieval-Augmented Generation over enterprise FAQ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  <a:cs typeface="Segoe UI"/>
              </a:rPr>
              <a:t>Microsoft Build 2026  ·  Hands-on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crosoft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1148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10912" y="38404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91F2C"/>
                </a:solidFill>
                <a:latin typeface="Segoe UI Semibold"/>
                <a:cs typeface="Segoe UI Semibold"/>
              </a:rPr>
              <a:t>Keyless security model</a:t>
            </a:r>
          </a:p>
          <a:p>
            <a:pPr algn="l"/>
            <a:r>
              <a:rPr sz="1100" b="0">
                <a:solidFill>
                  <a:srgbClr val="0078D4"/>
                </a:solidFill>
                <a:latin typeface="Segoe UI"/>
                <a:cs typeface="Segoe UI"/>
              </a:rPr>
              <a:t>Authentication · This lab vs traditional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828800"/>
            <a:ext cx="164592" cy="292608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027103" y="1828800"/>
            <a:ext cx="164592" cy="292608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12080" cy="45720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This lab — Managed Identity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554480" cy="310896"/>
          </a:xfrm>
          <a:prstGeom prst="roundRect">
            <a:avLst/>
          </a:prstGeom>
          <a:solidFill>
            <a:srgbClr val="FF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Semibold"/>
                <a:cs typeface="Segoe UI Semibold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91F2C"/>
                </a:solidFill>
                <a:latin typeface="Segoe UI"/>
                <a:cs typeface="Segoe UI"/>
              </a:rPr>
              <a:t>SQL connects to Azure OpenAI using a system-assigned Managed Identity token.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1554480" cy="310896"/>
          </a:xfrm>
          <a:prstGeom prst="roundRect">
            <a:avLst/>
          </a:prstGeom>
          <a:solidFill>
            <a:srgbClr val="FF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Semibold"/>
                <a:cs typeface="Segoe UI Semibold"/>
              </a:rPr>
              <a:t>Focus Areas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67328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91F2C"/>
                </a:solidFill>
                <a:latin typeface="Segoe UI"/>
                <a:cs typeface="Segoe UI"/>
              </a:rPr>
              <a:t>disableLocalAuth=true; no keys in code, config, or secrets.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3440"/>
            <a:ext cx="1554480" cy="310896"/>
          </a:xfrm>
          <a:prstGeom prst="roundRect">
            <a:avLst/>
          </a:prstGeom>
          <a:solidFill>
            <a:srgbClr val="FF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Semibold"/>
                <a:cs typeface="Segoe UI Semibold"/>
              </a:rPr>
              <a:t>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91F2C"/>
                </a:solidFill>
                <a:latin typeface="Segoe UI"/>
                <a:cs typeface="Segoe UI"/>
              </a:rPr>
              <a:t>Zero stored secrets and auditable, least-privilege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212080" cy="45720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41732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Traditional — API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03120"/>
            <a:ext cx="1554480" cy="310896"/>
          </a:xfrm>
          <a:prstGeom prst="roundRect">
            <a:avLst/>
          </a:prstGeom>
          <a:solidFill>
            <a:srgbClr val="FF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Semibold"/>
                <a:cs typeface="Segoe UI Semibold"/>
              </a:rPr>
              <a:t>What It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487168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91F2C"/>
                </a:solidFill>
                <a:latin typeface="Segoe UI"/>
                <a:cs typeface="Segoe UI"/>
              </a:rPr>
              <a:t>SQL connects using an api-key passed in request headers.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1554480" cy="310896"/>
          </a:xfrm>
          <a:prstGeom prst="roundRect">
            <a:avLst/>
          </a:prstGeom>
          <a:solidFill>
            <a:srgbClr val="FF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Semibold"/>
                <a:cs typeface="Segoe UI Semibold"/>
              </a:rPr>
              <a:t>Focus Areas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67328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91F2C"/>
                </a:solidFill>
                <a:latin typeface="Segoe UI"/>
                <a:cs typeface="Segoe UI"/>
              </a:rPr>
              <a:t>Keys must be stored, rotated, and protected from leakage.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663440"/>
            <a:ext cx="1554480" cy="310896"/>
          </a:xfrm>
          <a:prstGeom prst="roundRect">
            <a:avLst/>
          </a:prstGeom>
          <a:solidFill>
            <a:srgbClr val="FF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Semibold"/>
                <a:cs typeface="Segoe UI Semibold"/>
              </a:rPr>
              <a:t>Goals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047488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91F2C"/>
                </a:solidFill>
                <a:latin typeface="Segoe UI"/>
                <a:cs typeface="Segoe UI"/>
              </a:rPr>
              <a:t>Works, but adds secret-management burden and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crosoft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3840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737373"/>
                </a:solidFill>
                <a:latin typeface="Segoe UI Semibold"/>
                <a:cs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708660" y="21031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03120"/>
            <a:ext cx="9601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91F2C"/>
                </a:solidFill>
                <a:latin typeface="Segoe UI"/>
                <a:cs typeface="Segoe UI"/>
              </a:rPr>
              <a:t>Overview &amp; learning outcomes</a:t>
            </a:r>
          </a:p>
        </p:txBody>
      </p:sp>
      <p:sp>
        <p:nvSpPr>
          <p:cNvPr id="7" name="Oval 6"/>
          <p:cNvSpPr/>
          <p:nvPr/>
        </p:nvSpPr>
        <p:spPr>
          <a:xfrm>
            <a:off x="708660" y="2852928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852928"/>
            <a:ext cx="9601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91F2C"/>
                </a:solidFill>
                <a:latin typeface="Segoe UI"/>
                <a:cs typeface="Segoe UI"/>
              </a:rPr>
              <a:t>Solution architecture &amp; technology stack</a:t>
            </a:r>
          </a:p>
        </p:txBody>
      </p:sp>
      <p:sp>
        <p:nvSpPr>
          <p:cNvPr id="9" name="Oval 8"/>
          <p:cNvSpPr/>
          <p:nvPr/>
        </p:nvSpPr>
        <p:spPr>
          <a:xfrm>
            <a:off x="708660" y="3602736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602736"/>
            <a:ext cx="9601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91F2C"/>
                </a:solidFill>
                <a:latin typeface="Segoe UI"/>
                <a:cs typeface="Segoe UI"/>
              </a:rPr>
              <a:t>End-to-end RAG workflow</a:t>
            </a:r>
          </a:p>
        </p:txBody>
      </p:sp>
      <p:sp>
        <p:nvSpPr>
          <p:cNvPr id="11" name="Oval 10"/>
          <p:cNvSpPr/>
          <p:nvPr/>
        </p:nvSpPr>
        <p:spPr>
          <a:xfrm>
            <a:off x="708660" y="4352544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352544"/>
            <a:ext cx="9601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91F2C"/>
                </a:solidFill>
                <a:latin typeface="Segoe UI"/>
                <a:cs typeface="Segoe UI"/>
              </a:rPr>
              <a:t>Security &amp; governance model</a:t>
            </a:r>
          </a:p>
        </p:txBody>
      </p:sp>
      <p:sp>
        <p:nvSpPr>
          <p:cNvPr id="13" name="Oval 12"/>
          <p:cNvSpPr/>
          <p:nvPr/>
        </p:nvSpPr>
        <p:spPr>
          <a:xfrm>
            <a:off x="708660" y="5102352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102352"/>
            <a:ext cx="96012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91F2C"/>
                </a:solidFill>
                <a:latin typeface="Segoe UI"/>
                <a:cs typeface="Segoe UI"/>
              </a:rPr>
              <a:t>Deploy, cost &amp; next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crosoft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3840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737373"/>
                </a:solidFill>
                <a:latin typeface="Segoe UI Semibold"/>
                <a:cs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Lab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91F2C"/>
                </a:solidFill>
                <a:latin typeface="Segoe UI"/>
                <a:cs typeface="Segoe UI"/>
              </a:rPr>
              <a:t>What you provision and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7203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27203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091F2C"/>
                </a:solidFill>
                <a:latin typeface="Segoe UI"/>
                <a:cs typeface="Segoe UI"/>
              </a:rPr>
              <a:t>Guided exercises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0420" y="2743200"/>
            <a:ext cx="27203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0420" y="3886200"/>
            <a:ext cx="27203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091F2C"/>
                </a:solidFill>
                <a:latin typeface="Segoe UI"/>
                <a:cs typeface="Segoe UI"/>
              </a:rPr>
              <a:t>vCore Hyperscale serverless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743200"/>
            <a:ext cx="27203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F2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3886200"/>
            <a:ext cx="27203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091F2C"/>
                </a:solidFill>
                <a:latin typeface="Segoe UI"/>
                <a:cs typeface="Segoe UI"/>
              </a:rPr>
              <a:t>Fabric capacity + OneLake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1100" y="2743200"/>
            <a:ext cx="27203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1100" y="3886200"/>
            <a:ext cx="27203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091F2C"/>
                </a:solidFill>
                <a:latin typeface="Segoe UI"/>
                <a:cs typeface="Segoe UI"/>
              </a:rPr>
              <a:t>Secrets — token-only auth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crosoft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3840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737373"/>
                </a:solidFill>
                <a:latin typeface="Segoe UI Semibold"/>
                <a:cs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Three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91F2C"/>
                </a:solidFill>
                <a:latin typeface="Segoe UI"/>
                <a:cs typeface="Segoe UI"/>
              </a:rPr>
              <a:t>How the solution comes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74720" cy="3291840"/>
          </a:xfrm>
          <a:prstGeom prst="roundRect">
            <a:avLst/>
          </a:prstGeom>
          <a:solidFill>
            <a:srgbClr val="FF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474720" cy="64008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091F2C"/>
                </a:solidFill>
                <a:latin typeface="Segoe UI"/>
                <a:cs typeface="Segoe UI"/>
              </a:rPr>
              <a:t>Azure SQL Hyperscale — serverless vector search over FAQ embeddings.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474720" cy="3291840"/>
          </a:xfrm>
          <a:prstGeom prst="roundRect">
            <a:avLst/>
          </a:prstGeom>
          <a:solidFill>
            <a:srgbClr val="FF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34840" y="2286000"/>
            <a:ext cx="3474720" cy="64008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5468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091F2C"/>
                </a:solidFill>
                <a:latin typeface="Segoe UI"/>
                <a:cs typeface="Segoe UI"/>
              </a:rPr>
              <a:t>Azure OpenAI in Foundry — gpt-5 grounded RAG and text-embedding-3-small.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74720" cy="3291840"/>
          </a:xfrm>
          <a:prstGeom prst="roundRect">
            <a:avLst/>
          </a:prstGeom>
          <a:solidFill>
            <a:srgbClr val="FF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2286000"/>
            <a:ext cx="3474720" cy="64008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154680"/>
            <a:ext cx="29260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091F2C"/>
                </a:solidFill>
                <a:latin typeface="Segoe UI"/>
                <a:cs typeface="Segoe UI"/>
              </a:rPr>
              <a:t>Microsoft Fabric — OneLake mirroring and Power BI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Technology capability areas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8863" y="2377440"/>
            <a:ext cx="2103120" cy="3566160"/>
          </a:xfrm>
          <a:prstGeom prst="roundRect">
            <a:avLst/>
          </a:prstGeom>
          <a:solidFill>
            <a:srgbClr val="FF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71803" y="192024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95831" y="2148840"/>
            <a:ext cx="329184" cy="329184"/>
          </a:xfrm>
          <a:prstGeom prst="ellipse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863" y="2834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078D4"/>
                </a:solidFill>
                <a:latin typeface="Segoe UI Semibold"/>
                <a:cs typeface="Segoe UI Semibold"/>
              </a:rPr>
              <a:t>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591" y="3246120"/>
            <a:ext cx="1883664" cy="45720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8863" y="32461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  <a:cs typeface="Segoe UI Semibold"/>
              </a:rPr>
              <a:t>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455" y="3840480"/>
            <a:ext cx="177393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91F2C"/>
                </a:solidFill>
                <a:latin typeface="Segoe UI"/>
                <a:cs typeface="Segoe UI"/>
              </a:rPr>
              <a:t>Serverless vector search over FAQ embeddings.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6575" y="2377440"/>
            <a:ext cx="2103120" cy="3566160"/>
          </a:xfrm>
          <a:prstGeom prst="roundRect">
            <a:avLst/>
          </a:prstGeom>
          <a:solidFill>
            <a:srgbClr val="FF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39515" y="192024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63543" y="2148840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6575" y="2834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078D4"/>
                </a:solidFill>
                <a:latin typeface="Segoe UI Semibold"/>
                <a:cs typeface="Segoe UI Semibold"/>
              </a:rPr>
              <a:t>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6303" y="3246120"/>
            <a:ext cx="1883664" cy="45720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6575" y="32461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  <a:cs typeface="Segoe UI Semibold"/>
              </a:rPr>
              <a:t>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1167" y="3840480"/>
            <a:ext cx="177393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91F2C"/>
                </a:solidFill>
                <a:latin typeface="Segoe UI"/>
                <a:cs typeface="Segoe UI"/>
              </a:rPr>
              <a:t>gpt-5 grounded RAG with text-embedding-3-small.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4287" y="2377440"/>
            <a:ext cx="2103120" cy="3566160"/>
          </a:xfrm>
          <a:prstGeom prst="roundRect">
            <a:avLst/>
          </a:prstGeom>
          <a:solidFill>
            <a:srgbClr val="FF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07227" y="192024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31255" y="2148840"/>
            <a:ext cx="329184" cy="329184"/>
          </a:xfrm>
          <a:prstGeom prst="ellipse">
            <a:avLst/>
          </a:prstGeom>
          <a:solidFill>
            <a:srgbClr val="866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44287" y="2834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078D4"/>
                </a:solidFill>
                <a:latin typeface="Segoe UI Semibold"/>
                <a:cs typeface="Segoe UI Semibold"/>
              </a:rPr>
              <a:t>GOVERN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54015" y="3246120"/>
            <a:ext cx="1883664" cy="45720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44287" y="32461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  <a:cs typeface="Segoe UI Semibold"/>
              </a:rPr>
              <a:t>Protect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8879" y="3840480"/>
            <a:ext cx="177393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91F2C"/>
                </a:solidFill>
                <a:latin typeface="Segoe UI"/>
                <a:cs typeface="Segoe UI"/>
              </a:rPr>
              <a:t>Purview catalog, lineage, and Managed Identity.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1999" y="2377440"/>
            <a:ext cx="2103120" cy="3566160"/>
          </a:xfrm>
          <a:prstGeom prst="roundRect">
            <a:avLst/>
          </a:prstGeom>
          <a:solidFill>
            <a:srgbClr val="FF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974939" y="192024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98967" y="2148840"/>
            <a:ext cx="329184" cy="32918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1999" y="2834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078D4"/>
                </a:solidFill>
                <a:latin typeface="Segoe UI Semibold"/>
                <a:cs typeface="Segoe UI Semibold"/>
              </a:rPr>
              <a:t>ANALYZE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1727" y="3246120"/>
            <a:ext cx="1883664" cy="45720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1999" y="32461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  <a:cs typeface="Segoe UI Semibold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6591" y="3840480"/>
            <a:ext cx="177393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91F2C"/>
                </a:solidFill>
                <a:latin typeface="Segoe UI"/>
                <a:cs typeface="Segoe UI"/>
              </a:rPr>
              <a:t>Fabric OneLake mirroring and Power BI Direct Lake.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79711" y="2377440"/>
            <a:ext cx="2103120" cy="3566160"/>
          </a:xfrm>
          <a:prstGeom prst="roundRect">
            <a:avLst/>
          </a:prstGeom>
          <a:solidFill>
            <a:srgbClr val="FF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242651" y="192024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466679" y="2148840"/>
            <a:ext cx="329184" cy="329184"/>
          </a:xfrm>
          <a:prstGeom prst="ellipse">
            <a:avLst/>
          </a:prstGeom>
          <a:solidFill>
            <a:srgbClr val="C03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79711" y="2834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078D4"/>
                </a:solidFill>
                <a:latin typeface="Segoe UI Semibold"/>
                <a:cs typeface="Segoe UI Semibold"/>
              </a:rPr>
              <a:t>ORCHESTRATE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9439" y="3246120"/>
            <a:ext cx="1883664" cy="457200"/>
          </a:xfrm>
          <a:prstGeom prst="round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79711" y="32461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  <a:cs typeface="Segoe UI Semibold"/>
              </a:rPr>
              <a:t>Automate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4303" y="3840480"/>
            <a:ext cx="177393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91F2C"/>
                </a:solidFill>
                <a:latin typeface="Segoe UI"/>
                <a:cs typeface="Segoe UI"/>
              </a:rPr>
              <a:t>Foundry Agent calls an MCP tool over a dev tunnel.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crosoft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3840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737373"/>
                </a:solidFill>
                <a:latin typeface="Segoe UI Semibold"/>
                <a:cs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End-to-end RAG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023841" y="3346704"/>
            <a:ext cx="8144012" cy="38100"/>
          </a:xfrm>
          <a:prstGeom prst="rect">
            <a:avLst/>
          </a:prstGeom>
          <a:gradFill rotWithShape="1">
            <a:gsLst>
              <a:gs pos="0">
                <a:srgbClr val="4A66C8"/>
              </a:gs>
              <a:gs pos="100000">
                <a:srgbClr val="9360C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49521" y="310896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79" y="3886200"/>
            <a:ext cx="18531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91F2C"/>
                </a:solidFill>
                <a:latin typeface="Segoe UI Semibold"/>
                <a:cs typeface="Segoe UI Semibold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79" y="4389120"/>
            <a:ext cx="185312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91F2C"/>
                </a:solidFill>
                <a:latin typeface="Segoe UI"/>
                <a:cs typeface="Segoe UI"/>
              </a:rPr>
              <a:t>Seed FAQ content into Azure SQL (dbo.FAQ_Content).</a:t>
            </a:r>
          </a:p>
        </p:txBody>
      </p:sp>
      <p:sp>
        <p:nvSpPr>
          <p:cNvPr id="9" name="Oval 8"/>
          <p:cNvSpPr/>
          <p:nvPr/>
        </p:nvSpPr>
        <p:spPr>
          <a:xfrm>
            <a:off x="3785524" y="310896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3282" y="3886200"/>
            <a:ext cx="18531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91F2C"/>
                </a:solidFill>
                <a:latin typeface="Segoe UI Semibold"/>
                <a:cs typeface="Segoe UI Semibold"/>
              </a:rPr>
              <a:t>Embed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3282" y="4389120"/>
            <a:ext cx="185312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91F2C"/>
                </a:solidFill>
                <a:latin typeface="Segoe UI"/>
                <a:cs typeface="Segoe UI"/>
              </a:rPr>
              <a:t>Generate vectors with AI_GENERATE_EMBEDDINGS (Managed Identity).</a:t>
            </a:r>
          </a:p>
        </p:txBody>
      </p:sp>
      <p:sp>
        <p:nvSpPr>
          <p:cNvPr id="12" name="Oval 11"/>
          <p:cNvSpPr/>
          <p:nvPr/>
        </p:nvSpPr>
        <p:spPr>
          <a:xfrm>
            <a:off x="5821527" y="310896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9285" y="3886200"/>
            <a:ext cx="18531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91F2C"/>
                </a:solidFill>
                <a:latin typeface="Segoe UI Semibold"/>
                <a:cs typeface="Segoe UI Semibold"/>
              </a:rPr>
              <a:t>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9285" y="4389120"/>
            <a:ext cx="185312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91F2C"/>
                </a:solidFill>
                <a:latin typeface="Segoe UI"/>
                <a:cs typeface="Segoe UI"/>
              </a:rPr>
              <a:t>Rank nearest vectors with dbo.SearchFAQ.</a:t>
            </a:r>
          </a:p>
        </p:txBody>
      </p:sp>
      <p:sp>
        <p:nvSpPr>
          <p:cNvPr id="15" name="Oval 14"/>
          <p:cNvSpPr/>
          <p:nvPr/>
        </p:nvSpPr>
        <p:spPr>
          <a:xfrm>
            <a:off x="7857530" y="310896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288" y="3886200"/>
            <a:ext cx="18531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91F2C"/>
                </a:solidFill>
                <a:latin typeface="Segoe UI Semibold"/>
                <a:cs typeface="Segoe UI Semibold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288" y="4389120"/>
            <a:ext cx="185312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91F2C"/>
                </a:solidFill>
                <a:latin typeface="Segoe UI"/>
                <a:cs typeface="Segoe UI"/>
              </a:rPr>
              <a:t>Call gpt-5 with a grounded prompt for the answer.</a:t>
            </a:r>
          </a:p>
        </p:txBody>
      </p:sp>
      <p:sp>
        <p:nvSpPr>
          <p:cNvPr id="18" name="Oval 17"/>
          <p:cNvSpPr/>
          <p:nvPr/>
        </p:nvSpPr>
        <p:spPr>
          <a:xfrm>
            <a:off x="9893533" y="310896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 Semibold"/>
                <a:cs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1291" y="3886200"/>
            <a:ext cx="18531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91F2C"/>
                </a:solidFill>
                <a:latin typeface="Segoe UI Semibold"/>
                <a:cs typeface="Segoe UI Semibold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1291" y="4389120"/>
            <a:ext cx="1853123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091F2C"/>
                </a:solidFill>
                <a:latin typeface="Segoe UI"/>
                <a:cs typeface="Segoe UI"/>
              </a:rPr>
              <a:t>Mirror to OneLake and report in Power BI.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icrosoft-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36576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3840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737373"/>
                </a:solidFill>
                <a:latin typeface="Segoe UI Semibold"/>
                <a:cs typeface="Segoe UI Semibold"/>
              </a:rPr>
              <a:t>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Authentication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91F2C"/>
                </a:solidFill>
                <a:latin typeface="Segoe UI"/>
                <a:cs typeface="Segoe UI"/>
              </a:rPr>
              <a:t>Official api-key flow vs this lab’s Managed Identity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468880"/>
          <a:ext cx="1088136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Capability</a:t>
                      </a:r>
                    </a:p>
                  </a:txBody>
                  <a:tcPr marL="127000" marT="50800" marB="50800">
                    <a:gradFill rotWithShape="1">
                      <a:gsLst>
                        <a:gs pos="0">
                          <a:srgbClr val="4A66C8"/>
                        </a:gs>
                        <a:gs pos="100000">
                          <a:srgbClr val="9360C9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API key (official)</a:t>
                      </a:r>
                    </a:p>
                  </a:txBody>
                  <a:tcPr marL="127000" marT="50800" marB="50800">
                    <a:gradFill rotWithShape="1">
                      <a:gsLst>
                        <a:gs pos="0">
                          <a:srgbClr val="4A66C8"/>
                        </a:gs>
                        <a:gs pos="100000">
                          <a:srgbClr val="9360C9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Managed Identity (this lab)</a:t>
                      </a:r>
                    </a:p>
                  </a:txBody>
                  <a:tcPr marL="127000" marT="50800" marB="50800">
                    <a:gradFill rotWithShape="1">
                      <a:gsLst>
                        <a:gs pos="0">
                          <a:srgbClr val="4A66C8"/>
                        </a:gs>
                        <a:gs pos="100000">
                          <a:srgbClr val="9360C9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91F2C"/>
                          </a:solidFill>
                          <a:latin typeface="Segoe UI"/>
                          <a:cs typeface="Segoe UI"/>
                        </a:rPr>
                        <a:t>Embeddings (AI_GENERATE_EMBEDDINGS)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Segoe UI"/>
                          <a:cs typeface="Segoe UI"/>
                        </a:rPr>
                        <a:t>Y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Segoe UI"/>
                          <a:cs typeface="Segoe UI"/>
                        </a:rPr>
                        <a:t>Y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91F2C"/>
                          </a:solidFill>
                          <a:latin typeface="Segoe UI"/>
                          <a:cs typeface="Segoe UI"/>
                        </a:rPr>
                        <a:t>No secrets stored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37373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Segoe UI"/>
                          <a:cs typeface="Segoe UI"/>
                        </a:rPr>
                        <a:t>Y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91F2C"/>
                          </a:solidFill>
                          <a:latin typeface="Segoe UI"/>
                          <a:cs typeface="Segoe UI"/>
                        </a:rPr>
                        <a:t>Chat completion (gpt-5)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Segoe UI"/>
                          <a:cs typeface="Segoe UI"/>
                        </a:rPr>
                        <a:t>Y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Segoe UI"/>
                          <a:cs typeface="Segoe UI"/>
                        </a:rPr>
                        <a:t>Y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91F2C"/>
                          </a:solidFill>
                          <a:latin typeface="Segoe UI"/>
                          <a:cs typeface="Segoe UI"/>
                        </a:rPr>
                        <a:t>Auditable least-privilege access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737373"/>
                          </a:solidFill>
                          <a:latin typeface="Segoe UI"/>
                          <a:cs typeface="Segoe UI"/>
                        </a:rPr>
                        <a:t>—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Segoe UI"/>
                          <a:cs typeface="Segoe UI"/>
                        </a:rPr>
                        <a:t>Y</a:t>
                      </a:r>
                    </a:p>
                  </a:txBody>
                  <a:tcPr marL="1270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-gradient-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rand-r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580" y="0"/>
            <a:ext cx="4100157" cy="6858000"/>
          </a:xfrm>
          <a:prstGeom prst="rect">
            <a:avLst/>
          </a:prstGeom>
        </p:spPr>
      </p:pic>
      <p:pic>
        <p:nvPicPr>
          <p:cNvPr id="4" name="Picture 3" descr="microsoft-foundry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"/>
            <a:ext cx="521403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4572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91F2C"/>
                </a:solidFill>
                <a:latin typeface="Segoe UI Semibold"/>
                <a:cs typeface="Segoe UI Semibold"/>
              </a:rPr>
              <a:t>Microsoft Foundry (Azure AI Foundry)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315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gradFill rotWithShape="1">
                  <a:gsLst>
                    <a:gs pos="0">
                      <a:srgbClr val="1F5BD6"/>
                    </a:gs>
                    <a:gs pos="100000">
                      <a:srgbClr val="C9197F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Orchestrate with Microsoft Foundry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77639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091F2C"/>
                </a:solidFill>
                <a:latin typeface="Segoe UI"/>
                <a:cs typeface="Segoe UI"/>
              </a:rPr>
              <a:t>A Foundry Agent calls an MCP tool over a dev tunnel to query Azure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9436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37373"/>
                </a:solidFill>
                <a:latin typeface="Segoe UI"/>
                <a:cs typeface="Segoe UI"/>
              </a:rPr>
              <a:t>Exercise 04  ·  Agent + MCP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-gradient-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rand-r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580" y="0"/>
            <a:ext cx="4100157" cy="6858000"/>
          </a:xfrm>
          <a:prstGeom prst="rect">
            <a:avLst/>
          </a:prstGeom>
        </p:spPr>
      </p:pic>
      <p:pic>
        <p:nvPicPr>
          <p:cNvPr id="4" name="Picture 3" descr="microsoft-365-copilo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43200"/>
            <a:ext cx="2660652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5661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gradFill rotWithShape="1">
                  <a:gsLst>
                    <a:gs pos="0">
                      <a:srgbClr val="4A66C8"/>
                    </a:gs>
                    <a:gs pos="100000">
                      <a:srgbClr val="9360C9"/>
                    </a:gs>
                  </a:gsLst>
                  <a:lin ang="0" scaled="1"/>
                </a:gradFill>
                <a:latin typeface="Segoe UI Semibold"/>
                <a:cs typeface="Segoe UI Semibol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57200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091F2C"/>
                </a:solidFill>
                <a:latin typeface="Segoe UI"/>
                <a:cs typeface="Segoe UI"/>
              </a:rPr>
              <a:t>Keep learning at aka.ms/build26-next-steps  ·  Connect the Microsoft Learn MCP Server in VS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91F2C"/>
      </a:dk2>
      <a:lt2>
        <a:srgbClr val="FFF8F5"/>
      </a:lt2>
      <a:accent1>
        <a:srgbClr val="0078D4"/>
      </a:accent1>
      <a:accent2>
        <a:srgbClr val="C03BC4"/>
      </a:accent2>
      <a:accent3>
        <a:srgbClr val="FFA38B"/>
      </a:accent3>
      <a:accent4>
        <a:srgbClr val="8661C5"/>
      </a:accent4>
      <a:accent5>
        <a:srgbClr val="8DC8E8"/>
      </a:accent5>
      <a:accent6>
        <a:srgbClr val="FF5C39"/>
      </a:accent6>
      <a:hlink>
        <a:srgbClr val="0078D4"/>
      </a:hlink>
      <a:folHlink>
        <a:srgbClr val="C03BC4"/>
      </a:folHlink>
    </a:clrScheme>
    <a:fontScheme name="Microsoft Styler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2026-06-25T02:06:47Z</dcterms:modified>
  <cp:category/>
</cp:coreProperties>
</file>